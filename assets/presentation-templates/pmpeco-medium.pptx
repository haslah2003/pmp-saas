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6B7"/>
    <a:srgbClr val="00BFB7"/>
    <a:srgbClr val="00A6B9"/>
    <a:srgbClr val="D19BFF"/>
    <a:srgbClr val="310259"/>
    <a:srgbClr val="DEDBFF"/>
    <a:srgbClr val="AD7FFF"/>
    <a:srgbClr val="00FFFE"/>
    <a:srgbClr val="005A77"/>
    <a:srgbClr val="0048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0"/>
    <p:restoredTop sz="85456"/>
  </p:normalViewPr>
  <p:slideViewPr>
    <p:cSldViewPr snapToGrid="0" snapToObjects="1">
      <p:cViewPr>
        <p:scale>
          <a:sx n="98" d="100"/>
          <a:sy n="98" d="100"/>
        </p:scale>
        <p:origin x="1288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847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candidates preparing for the exam on or after 9 July 2026 — today we connect data-driven delivery and sustainability across PMBOK 8 and ECO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diving into content, anchor the guardrail: PMBOK 8 structure and ECO 2026 exam domains serve different purposes but must both be mastered.
[Sources]
[1] PMBOK and ECO domain distinction — PMBOK guide domains versus ECO exam domains distinction (both)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principles set the ethical and strategic foundation before any tool — including AI — enters the delivery conversation.
[Sources]
[6] PMBOK 8th Edition — English — PMBOK 8 six principles verified canonical list (pmbok8)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empowered culture only works inside strong governance and resource domains — this balance matters for AI-augmented teams.
[Sources]
[3] PMBOK 8th Edition — English — PMBOK 8 seven performance domains verified canonical list (pmbok8)
[6] PMBOK 8th Edition — English — PMBOK 8 six principles verified canonical list (pmbok8)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Memorize these seven domains precisely — they replace the PMBOK 7 domain set and anchor every sustainability and delivery discussion in PMBOK 8.
[Sources]
[2] PMBOK 8th Edition — English — PMBOK 8 canonical structure (pmbok8)
[3] PMBOK 8th Edition — English — PMBOK 8 seven performance domains verified canonical list (pmbok8)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final step — collecting and analyzing data for decisions is an explicit ECO task, the natural home for AI-augmented practices.
[Sources]
[5] ECO 2026 — PDF p9 chunk 1 (pmbok8)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Sustainable delivery is not separate from value delivery — ECO Task 3 shows they are the same discipline of continuous value verification.
[Sources]
[5] ECO 2026 — PDF p9 chunk 1 (pmbok8)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 People maps across stakeholder, resources, leadership, empowered culture, communication, and more — never assume a single PMBOK 8 domain equals an ECO domain.
[Sources]
[1] PMBOK and ECO domain distinction — PMBOK guide domains versus ECO exam domains distinction (both)
[4] PMBOK 8th Edition — English — PMBOK 8 ECO mapping boundary (pmbok8)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precise distinctions examiners test — count accuracy and domain-mapping discipline will protect your score.
[Sources]
[3] PMBOK 8th Edition — English — PMBOK 8 seven performance domains verified canonical list (pmbok8)
[4] PMBOK 8th Edition — English — PMBOK 8 ECO mapping boundary (pmbok8)
[5] ECO 2026 — PDF p9 chunk 1 (pmbok8)
[6] PMBOK 8th Edition — English — PMBOK 8 six principles verified canonical list (pmbok8)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that sustainability and AI-augmented, data-informed delivery are not separate exam topics — they are woven into the same principles and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A7A3D9-B796-76AB-CDCF-65EFACA17702}"/>
              </a:ext>
            </a:extLst>
          </p:cNvPr>
          <p:cNvSpPr/>
          <p:nvPr/>
        </p:nvSpPr>
        <p:spPr>
          <a:xfrm>
            <a:off x="2560320" y="2563586"/>
            <a:ext cx="8046720" cy="2357845"/>
          </a:xfrm>
          <a:prstGeom prst="rect">
            <a:avLst/>
          </a:prstGeom>
          <a:gradFill flip="none" rotWithShape="1">
            <a:gsLst>
              <a:gs pos="0">
                <a:srgbClr val="D19BFF">
                  <a:alpha val="50000"/>
                </a:srgbClr>
              </a:gs>
              <a:gs pos="100000">
                <a:srgbClr val="00D6B7"/>
              </a:gs>
              <a:gs pos="51000">
                <a:srgbClr val="00D6B7">
                  <a:alpha val="50110"/>
                </a:srgb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OM"/>
          </a:p>
        </p:txBody>
      </p:sp>
      <p:sp>
        <p:nvSpPr>
          <p:cNvPr id="4" name="Text 2"/>
          <p:cNvSpPr/>
          <p:nvPr/>
        </p:nvSpPr>
        <p:spPr>
          <a:xfrm>
            <a:off x="4950246" y="5450815"/>
            <a:ext cx="3266869" cy="566928"/>
          </a:xfrm>
          <a:prstGeom prst="roundRect">
            <a:avLst>
              <a:gd name="adj" fmla="val 23529"/>
            </a:avLst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PMP PATH • PMBOK 8 + ECO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193292" y="2818311"/>
            <a:ext cx="6780777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AI-Augmented Delivery &amp; Sustainability</a:t>
            </a:r>
            <a:endParaRPr lang="en-US" sz="4200" dirty="0">
              <a:solidFill>
                <a:schemeClr val="bg1"/>
              </a:solidFill>
            </a:endParaRPr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8FB91B75-1669-6C90-BB7C-1D27E49BB0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69783" y="386386"/>
            <a:ext cx="2227795" cy="16478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7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5153" y="54864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GUARDRAIL FIRST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1096" y="1978326"/>
            <a:ext cx="7044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Framework, Two Lenses: PMBOK 8 and ECO 2026</a:t>
            </a:r>
            <a:endParaRPr lang="en-US" sz="3200" dirty="0">
              <a:solidFill>
                <a:srgbClr val="310259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6583680" cy="1637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PMBOK Guide domains and ECO exam-content domains are related but not one-to-one equivalents; keep them distinct as you study AI-augmented and sustainable delivery topics.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55280" y="2847006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6" name="Text 4"/>
          <p:cNvSpPr/>
          <p:nvPr/>
        </p:nvSpPr>
        <p:spPr>
          <a:xfrm>
            <a:off x="7955280" y="3121326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A9A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5400" dirty="0">
              <a:solidFill>
                <a:srgbClr val="00A9A4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092440" y="4472241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A406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distinct domain systems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84566"/>
            <a:ext cx="44761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© </a:t>
            </a:r>
            <a:r>
              <a:rPr lang="en-US" sz="900" dirty="0" err="1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pmpeco.com</a:t>
            </a:r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2026</a:t>
            </a:r>
            <a:endParaRPr lang="en-US" sz="9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A4AFEB78-1662-5EF5-3B19-872D99612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96" y="445191"/>
            <a:ext cx="609233" cy="609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4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200"/>
                            </p:stCondLst>
                            <p:childTnLst>
                              <p:par>
                                <p:cTn id="2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826BC5"/>
            </a:gs>
            <a:gs pos="100000">
              <a:srgbClr val="00619D"/>
            </a:gs>
            <a:gs pos="29000">
              <a:srgbClr val="005A77"/>
            </a:gs>
          </a:gsLst>
          <a:lin ang="9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DEDB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102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 PRINCIPLES, APPLIED</a:t>
            </a:r>
            <a:endParaRPr lang="en-US" sz="1050" dirty="0">
              <a:solidFill>
                <a:srgbClr val="310259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PMBOK 8 Principles Ground Sustainable Delivery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59" y="1920240"/>
            <a:ext cx="4145647" cy="603504"/>
          </a:xfrm>
          <a:prstGeom prst="roundRect">
            <a:avLst>
              <a:gd name="adj" fmla="val 15152"/>
            </a:avLst>
          </a:prstGeom>
          <a:solidFill>
            <a:srgbClr val="DEDBFF"/>
          </a:solidFill>
          <a:ln/>
        </p:spPr>
        <p:txBody>
          <a:bodyPr/>
          <a:lstStyle/>
          <a:p>
            <a:endParaRPr lang="en-OM">
              <a:solidFill>
                <a:srgbClr val="310259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17164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Adopt a Holistic View</a:t>
            </a:r>
            <a:endParaRPr lang="en-US" sz="1500" dirty="0">
              <a:solidFill>
                <a:srgbClr val="310259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108960" y="1920240"/>
            <a:ext cx="17164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102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the system, not just isolated tasks or data points.</a:t>
            </a:r>
            <a:endParaRPr lang="en-US" sz="1250" dirty="0">
              <a:solidFill>
                <a:srgbClr val="310259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633472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DEDBFF"/>
          </a:solidFill>
          <a:ln/>
        </p:spPr>
        <p:txBody>
          <a:bodyPr/>
          <a:lstStyle/>
          <a:p>
            <a:endParaRPr lang="en-OM">
              <a:solidFill>
                <a:srgbClr val="310259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263347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 on Value</a:t>
            </a:r>
            <a:endParaRPr lang="en-US" sz="1500" dirty="0">
              <a:solidFill>
                <a:srgbClr val="310259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108960" y="263347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102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Prioritize outcomes that matter to stakeholders.</a:t>
            </a:r>
            <a:endParaRPr lang="en-US" sz="1250" dirty="0">
              <a:solidFill>
                <a:srgbClr val="310259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3346704"/>
            <a:ext cx="6949440" cy="603504"/>
          </a:xfrm>
          <a:prstGeom prst="roundRect">
            <a:avLst>
              <a:gd name="adj" fmla="val 15152"/>
            </a:avLst>
          </a:prstGeom>
          <a:solidFill>
            <a:srgbClr val="DEDBFF"/>
          </a:solidFill>
          <a:ln/>
        </p:spPr>
        <p:txBody>
          <a:bodyPr/>
          <a:lstStyle/>
          <a:p>
            <a:endParaRPr lang="en-OM">
              <a:solidFill>
                <a:srgbClr val="310259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334670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Embed Quality</a:t>
            </a:r>
            <a:endParaRPr lang="en-US" sz="1500" dirty="0">
              <a:solidFill>
                <a:srgbClr val="310259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08960" y="334670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102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quality into processes and deliverables continuously.</a:t>
            </a:r>
            <a:endParaRPr lang="en-US" sz="1250" dirty="0">
              <a:solidFill>
                <a:srgbClr val="310259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4059936"/>
            <a:ext cx="8503920" cy="603504"/>
          </a:xfrm>
          <a:prstGeom prst="roundRect">
            <a:avLst>
              <a:gd name="adj" fmla="val 15152"/>
            </a:avLst>
          </a:prstGeom>
          <a:solidFill>
            <a:srgbClr val="DEDBFF"/>
          </a:solidFill>
          <a:ln/>
        </p:spPr>
        <p:txBody>
          <a:bodyPr/>
          <a:lstStyle/>
          <a:p>
            <a:endParaRPr lang="en-OM">
              <a:solidFill>
                <a:srgbClr val="310259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5840" y="4059936"/>
            <a:ext cx="185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 an Accountable Leader</a:t>
            </a:r>
            <a:endParaRPr lang="en-US" sz="1500" dirty="0">
              <a:solidFill>
                <a:srgbClr val="310259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08960" y="4059936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102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Own decisions, including those informed by data and tools.</a:t>
            </a:r>
            <a:endParaRPr lang="en-US" sz="1250" dirty="0">
              <a:solidFill>
                <a:srgbClr val="310259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4773168"/>
            <a:ext cx="10058400" cy="603504"/>
          </a:xfrm>
          <a:prstGeom prst="roundRect">
            <a:avLst>
              <a:gd name="adj" fmla="val 15152"/>
            </a:avLst>
          </a:prstGeom>
          <a:solidFill>
            <a:srgbClr val="00FFF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Text 15"/>
          <p:cNvSpPr/>
          <p:nvPr/>
        </p:nvSpPr>
        <p:spPr>
          <a:xfrm>
            <a:off x="1005840" y="477316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Integrate Sustainability</a:t>
            </a:r>
            <a:endParaRPr lang="en-US" sz="1500" dirty="0">
              <a:solidFill>
                <a:srgbClr val="310259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108960" y="477316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102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Weave sustainability within all project areas, not as an add-on.</a:t>
            </a:r>
            <a:endParaRPr lang="en-US" sz="1250" dirty="0">
              <a:solidFill>
                <a:srgbClr val="310259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of six PMBOK 8 principles framing responsible, value-driven delivery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25416" y="6473952"/>
            <a:ext cx="7761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© </a:t>
            </a:r>
            <a:r>
              <a:rPr lang="en-US" sz="900" dirty="0" err="1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pmpeco.com</a:t>
            </a:r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2026</a:t>
            </a:r>
            <a:endParaRPr lang="en-US" sz="900" dirty="0"/>
          </a:p>
        </p:txBody>
      </p:sp>
      <p:pic>
        <p:nvPicPr>
          <p:cNvPr id="23" name="Image 0">
            <a:extLst>
              <a:ext uri="{FF2B5EF4-FFF2-40B4-BE49-F238E27FC236}">
                <a16:creationId xmlns:a16="http://schemas.microsoft.com/office/drawing/2014/main" id="{33382957-8EE6-BBB9-B9DF-C25F81A10E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37860" y="5620234"/>
            <a:ext cx="1529509" cy="1131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000"/>
                            </p:stCondLst>
                            <p:childTnLst>
                              <p:par>
                                <p:cTn id="6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500"/>
                            </p:stCondLst>
                            <p:childTnLst>
                              <p:par>
                                <p:cTn id="6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7827" y="584664"/>
            <a:ext cx="3815141" cy="330286"/>
          </a:xfrm>
          <a:prstGeom prst="roundRect">
            <a:avLst>
              <a:gd name="adj" fmla="val 23529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PRINCIPLE 6 + PERFORMANCE DOMAINS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122452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Empowered Culture Meets Structured Domains</a:t>
            </a:r>
            <a:endParaRPr lang="en-US" sz="3200" dirty="0">
              <a:solidFill>
                <a:srgbClr val="310259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230364"/>
            <a:ext cx="5090008" cy="1965960"/>
          </a:xfrm>
          <a:prstGeom prst="roundRect">
            <a:avLst>
              <a:gd name="adj" fmla="val 6512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5" name="Text 3"/>
          <p:cNvSpPr/>
          <p:nvPr/>
        </p:nvSpPr>
        <p:spPr>
          <a:xfrm>
            <a:off x="1097280" y="2504684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20240" y="2522972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an Empowered Culture</a:t>
            </a:r>
            <a:endParaRPr lang="en-US" sz="1700" dirty="0">
              <a:solidFill>
                <a:srgbClr val="310259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15568" y="3327644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sixth principle — teams thrive when trusted to use judgment and tools wisely.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2230364"/>
            <a:ext cx="5090008" cy="1965960"/>
          </a:xfrm>
          <a:prstGeom prst="roundRect">
            <a:avLst>
              <a:gd name="adj" fmla="val 6512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9" name="Text 7"/>
          <p:cNvSpPr/>
          <p:nvPr/>
        </p:nvSpPr>
        <p:spPr>
          <a:xfrm>
            <a:off x="6553048" y="2504684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5955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76008" y="2522972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Governance &amp; Risk</a:t>
            </a:r>
            <a:endParaRPr lang="en-US" sz="1700" dirty="0">
              <a:solidFill>
                <a:srgbClr val="310259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571336" y="3327644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of seven Performance Domains ensuring oversight as delivery methods evolve.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8728" y="4424924"/>
            <a:ext cx="5090008" cy="1965960"/>
          </a:xfrm>
          <a:prstGeom prst="roundRect">
            <a:avLst>
              <a:gd name="adj" fmla="val 6512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3" name="Text 11"/>
          <p:cNvSpPr/>
          <p:nvPr/>
        </p:nvSpPr>
        <p:spPr>
          <a:xfrm>
            <a:off x="6553048" y="4699244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A003B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76008" y="4717532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Resources &amp; Stakeholders</a:t>
            </a:r>
            <a:endParaRPr lang="en-US" sz="1700" dirty="0">
              <a:solidFill>
                <a:srgbClr val="310259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71336" y="5522204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Domains that anchor decisions about who and what powers augmented delivery.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390884"/>
            <a:ext cx="2912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© </a:t>
            </a:r>
            <a:r>
              <a:rPr lang="en-US" sz="900" dirty="0" err="1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pmpeco.com</a:t>
            </a:r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2026</a:t>
            </a:r>
            <a:endParaRPr lang="en-US" sz="90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9B5A4A2D-3038-94D8-751E-60704CB52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96" y="445191"/>
            <a:ext cx="609233" cy="609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7252" y="54864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CANONICAL STRUCTURE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65376" y="9601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Seven PMBOK 8 Performance Domains</a:t>
            </a:r>
            <a:endParaRPr lang="en-US" sz="3200" dirty="0">
              <a:solidFill>
                <a:srgbClr val="310259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900079" y="2054096"/>
            <a:ext cx="5090008" cy="1965960"/>
          </a:xfrm>
          <a:prstGeom prst="roundRect">
            <a:avLst>
              <a:gd name="adj" fmla="val 6512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5" name="Text 3"/>
          <p:cNvSpPr/>
          <p:nvPr/>
        </p:nvSpPr>
        <p:spPr>
          <a:xfrm>
            <a:off x="1174399" y="232841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97359" y="2346704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Governance</a:t>
            </a:r>
            <a:endParaRPr lang="en-US" sz="1700" dirty="0">
              <a:solidFill>
                <a:srgbClr val="310259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92687" y="3151376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Oversight structure for decisions and accountability.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2054096"/>
            <a:ext cx="5090008" cy="1965960"/>
          </a:xfrm>
          <a:prstGeom prst="roundRect">
            <a:avLst>
              <a:gd name="adj" fmla="val 6512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9" name="Text 7"/>
          <p:cNvSpPr/>
          <p:nvPr/>
        </p:nvSpPr>
        <p:spPr>
          <a:xfrm>
            <a:off x="6553048" y="232841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5955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76008" y="2346704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&amp; Schedule</a:t>
            </a:r>
            <a:endParaRPr lang="en-US" sz="1700" dirty="0">
              <a:solidFill>
                <a:srgbClr val="310259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571336" y="3151376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Boundaries and timing for deliverables.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0079" y="4297680"/>
            <a:ext cx="5090008" cy="1965960"/>
          </a:xfrm>
          <a:prstGeom prst="roundRect">
            <a:avLst>
              <a:gd name="adj" fmla="val 6512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3" name="Text 11"/>
          <p:cNvSpPr/>
          <p:nvPr/>
        </p:nvSpPr>
        <p:spPr>
          <a:xfrm>
            <a:off x="1174399" y="45720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A003B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97359" y="4590288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Resources</a:t>
            </a:r>
            <a:endParaRPr lang="en-US" sz="1700" dirty="0">
              <a:solidFill>
                <a:srgbClr val="310259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92687" y="539496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Funding and capacity, including tools and talent.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4297680"/>
            <a:ext cx="5090008" cy="1965960"/>
          </a:xfrm>
          <a:prstGeom prst="roundRect">
            <a:avLst>
              <a:gd name="adj" fmla="val 6512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7" name="Text 15"/>
          <p:cNvSpPr/>
          <p:nvPr/>
        </p:nvSpPr>
        <p:spPr>
          <a:xfrm>
            <a:off x="6553048" y="45720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76008" y="4590288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Stakeholders &amp; Risk</a:t>
            </a:r>
            <a:endParaRPr lang="en-US" sz="1700" dirty="0">
              <a:solidFill>
                <a:srgbClr val="310259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71336" y="539496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Engagement and exposure management across the project.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© </a:t>
            </a:r>
            <a:r>
              <a:rPr lang="en-US" sz="900" dirty="0" err="1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pmpeco.com</a:t>
            </a:r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2026</a:t>
            </a:r>
            <a:endParaRPr lang="en-US" sz="90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C9274134-2901-92F0-A573-A6952A574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96" y="445191"/>
            <a:ext cx="609233" cy="609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1494" y="54864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DOMAIN • 41%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1822869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Data-Informed Planning Is Already in the ECO</a:t>
            </a:r>
            <a:endParaRPr lang="en-US" sz="3200" dirty="0">
              <a:solidFill>
                <a:srgbClr val="310259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344727"/>
            <a:ext cx="1853123" cy="1554480"/>
          </a:xfrm>
          <a:prstGeom prst="roundRect">
            <a:avLst>
              <a:gd name="adj" fmla="val 7059"/>
            </a:avLst>
          </a:prstGeom>
          <a:solidFill>
            <a:srgbClr val="00A9A4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5" name="Text 3"/>
          <p:cNvSpPr/>
          <p:nvPr/>
        </p:nvSpPr>
        <p:spPr>
          <a:xfrm>
            <a:off x="822960" y="3442815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911655"/>
            <a:ext cx="16702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Assess project needs, complexity, and magnitude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7795" y="3756207"/>
            <a:ext cx="356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996123" y="3344727"/>
            <a:ext cx="1853123" cy="1554480"/>
          </a:xfrm>
          <a:prstGeom prst="roundRect">
            <a:avLst>
              <a:gd name="adj" fmla="val 7059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en-OM"/>
          </a:p>
        </p:txBody>
      </p:sp>
      <p:sp>
        <p:nvSpPr>
          <p:cNvPr id="9" name="Text 7"/>
          <p:cNvSpPr/>
          <p:nvPr/>
        </p:nvSpPr>
        <p:spPr>
          <a:xfrm>
            <a:off x="2996123" y="3442815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>
              <a:solidFill>
                <a:srgbClr val="310259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087563" y="3911655"/>
            <a:ext cx="1750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Recommend a development approach (predictive, adaptive, hybrid)</a:t>
            </a:r>
            <a:endParaRPr lang="en-US" sz="1200" dirty="0">
              <a:solidFill>
                <a:srgbClr val="310259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830958" y="3756207"/>
            <a:ext cx="356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169286" y="3344727"/>
            <a:ext cx="1853123" cy="1554480"/>
          </a:xfrm>
          <a:prstGeom prst="roundRect">
            <a:avLst>
              <a:gd name="adj" fmla="val 7059"/>
            </a:avLst>
          </a:prstGeom>
          <a:solidFill>
            <a:srgbClr val="00A9A4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1"/>
          <p:cNvSpPr/>
          <p:nvPr/>
        </p:nvSpPr>
        <p:spPr>
          <a:xfrm>
            <a:off x="5169286" y="3442815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60726" y="3911655"/>
            <a:ext cx="16702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Determine critical information requirements (e.g., sustainability)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04121" y="3756207"/>
            <a:ext cx="356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342449" y="3344727"/>
            <a:ext cx="1853123" cy="1554480"/>
          </a:xfrm>
          <a:prstGeom prst="roundRect">
            <a:avLst>
              <a:gd name="adj" fmla="val 7059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7" name="Text 15"/>
          <p:cNvSpPr/>
          <p:nvPr/>
        </p:nvSpPr>
        <p:spPr>
          <a:xfrm>
            <a:off x="7342449" y="3442815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>
              <a:solidFill>
                <a:srgbClr val="310259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33889" y="3911655"/>
            <a:ext cx="16702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and maintain the integrated project management plan</a:t>
            </a:r>
            <a:endParaRPr lang="en-US" sz="1200" dirty="0">
              <a:solidFill>
                <a:srgbClr val="310259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77284" y="3756207"/>
            <a:ext cx="356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515612" y="3344727"/>
            <a:ext cx="1853123" cy="1554480"/>
          </a:xfrm>
          <a:prstGeom prst="roundRect">
            <a:avLst>
              <a:gd name="adj" fmla="val 7059"/>
            </a:avLst>
          </a:prstGeom>
          <a:solidFill>
            <a:srgbClr val="00A9A4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1" name="Text 19"/>
          <p:cNvSpPr/>
          <p:nvPr/>
        </p:nvSpPr>
        <p:spPr>
          <a:xfrm>
            <a:off x="9515612" y="3442815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7052" y="3911655"/>
            <a:ext cx="16702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 and analyze data to make informed project decisions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2443623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900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 2026 Domain II, Task 1 — Develop an integrated project management plan</a:t>
            </a:r>
            <a:endParaRPr lang="en-US" sz="1500" dirty="0">
              <a:solidFill>
                <a:srgbClr val="590047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172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© </a:t>
            </a:r>
            <a:r>
              <a:rPr lang="en-US" sz="900" dirty="0" err="1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pmpeco.com</a:t>
            </a:r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2026</a:t>
            </a:r>
            <a:endParaRPr lang="en-US" sz="90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49CBAC83-5B93-CC47-F35F-E90E9F800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96" y="445191"/>
            <a:ext cx="609233" cy="609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0"/>
                            </p:stCondLst>
                            <p:childTnLst>
                              <p:par>
                                <p:cTn id="8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500"/>
                            </p:stCondLst>
                            <p:childTnLst>
                              <p:par>
                                <p:cTn id="86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6404" y="54864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 DOMAIN II, TASK 3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1219016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Value-Based Delivery Underpins Sustainability</a:t>
            </a:r>
            <a:endParaRPr lang="en-US" sz="3200" dirty="0">
              <a:solidFill>
                <a:srgbClr val="310259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090008" cy="1965960"/>
          </a:xfrm>
          <a:prstGeom prst="roundRect">
            <a:avLst>
              <a:gd name="adj" fmla="val 6512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5" name="Text 3"/>
          <p:cNvSpPr/>
          <p:nvPr/>
        </p:nvSpPr>
        <p:spPr>
          <a:xfrm>
            <a:off x="1097280" y="2423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20240" y="2441448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Identify Value with Stakeholders</a:t>
            </a:r>
            <a:endParaRPr lang="en-US" sz="1700" dirty="0">
              <a:solidFill>
                <a:srgbClr val="310259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15568" y="324612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Co-create value components early and often.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2148840"/>
            <a:ext cx="5090008" cy="1965960"/>
          </a:xfrm>
          <a:prstGeom prst="roundRect">
            <a:avLst>
              <a:gd name="adj" fmla="val 6512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9" name="Text 7"/>
          <p:cNvSpPr/>
          <p:nvPr/>
        </p:nvSpPr>
        <p:spPr>
          <a:xfrm>
            <a:off x="6553048" y="2423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5955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76008" y="2441448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Prioritize by Value &amp; Feedback</a:t>
            </a:r>
            <a:endParaRPr lang="en-US" sz="1700" dirty="0">
              <a:solidFill>
                <a:srgbClr val="310259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571336" y="324612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Sequence work using real stakeholder input.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5090008" cy="1965960"/>
          </a:xfrm>
          <a:prstGeom prst="roundRect">
            <a:avLst>
              <a:gd name="adj" fmla="val 6512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3" name="Text 11"/>
          <p:cNvSpPr/>
          <p:nvPr/>
        </p:nvSpPr>
        <p:spPr>
          <a:xfrm>
            <a:off x="1097280" y="45720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A003B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4590288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 Incrementally</a:t>
            </a:r>
            <a:endParaRPr lang="en-US" sz="1700" dirty="0">
              <a:solidFill>
                <a:srgbClr val="310259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15568" y="539496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 opportunities to release value in stages.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4297680"/>
            <a:ext cx="5090008" cy="1965960"/>
          </a:xfrm>
          <a:prstGeom prst="roundRect">
            <a:avLst>
              <a:gd name="adj" fmla="val 6512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7" name="Text 15"/>
          <p:cNvSpPr/>
          <p:nvPr/>
        </p:nvSpPr>
        <p:spPr>
          <a:xfrm>
            <a:off x="6553048" y="45720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76008" y="4590288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 Measurement Systems</a:t>
            </a:r>
            <a:endParaRPr lang="en-US" sz="1700" dirty="0">
              <a:solidFill>
                <a:srgbClr val="310259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71336" y="539496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benefits tracking is genuinely in place.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© </a:t>
            </a:r>
            <a:r>
              <a:rPr lang="en-US" sz="900" dirty="0" err="1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pmpeco.com</a:t>
            </a:r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2026</a:t>
            </a:r>
            <a:endParaRPr lang="en-US" sz="9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6291072"/>
            <a:ext cx="384048" cy="384048"/>
          </a:xfrm>
          <a:prstGeom prst="rect">
            <a:avLst/>
          </a:prstGeom>
        </p:spPr>
      </p:pic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001C29B9-99B6-9517-47B8-A5F0A5184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96" y="445191"/>
            <a:ext cx="609233" cy="609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0"/>
                            </p:stCondLst>
                            <p:childTnLst>
                              <p:par>
                                <p:cTn id="39" presetID="5" presetClass="entr" presetSubtype="1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1000"/>
                            </p:stCondLst>
                            <p:childTnLst>
                              <p:par>
                                <p:cTn id="52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1" animBg="1"/>
      <p:bldP spid="14" grpId="1" animBg="1"/>
      <p:bldP spid="15" grpId="1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4454" y="54864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MAPPING BOUNDARY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1536192"/>
            <a:ext cx="10195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Not Collapse ECO People Into One Domain</a:t>
            </a:r>
            <a:endParaRPr lang="en-US" sz="3200" dirty="0">
              <a:solidFill>
                <a:srgbClr val="310259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542032"/>
            <a:ext cx="5120640" cy="3749040"/>
          </a:xfrm>
          <a:prstGeom prst="roundRect">
            <a:avLst>
              <a:gd name="adj" fmla="val 3415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5" name="Text 3"/>
          <p:cNvSpPr/>
          <p:nvPr/>
        </p:nvSpPr>
        <p:spPr>
          <a:xfrm>
            <a:off x="1143000" y="28163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BF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 2026 Exam Domains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88720" y="3456432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</a:t>
            </a:r>
            <a:endParaRPr lang="en-US" sz="1500" dirty="0"/>
          </a:p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</a:t>
            </a:r>
            <a:endParaRPr lang="en-US" sz="1500" dirty="0"/>
          </a:p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Environment</a:t>
            </a:r>
            <a:endParaRPr lang="en-US" sz="1500" dirty="0"/>
          </a:p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Drives exam content distribution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46520" y="2542032"/>
            <a:ext cx="5120640" cy="3749040"/>
          </a:xfrm>
          <a:prstGeom prst="roundRect">
            <a:avLst>
              <a:gd name="adj" fmla="val 3415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8" name="Text 6"/>
          <p:cNvSpPr/>
          <p:nvPr/>
        </p:nvSpPr>
        <p:spPr>
          <a:xfrm>
            <a:off x="6766560" y="28163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003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PMBOK 8 Performance Domains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12280" y="3456432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Governance, Scope, Schedule</a:t>
            </a:r>
            <a:endParaRPr lang="en-US" sz="1500" dirty="0"/>
          </a:p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Finance, Stakeholders</a:t>
            </a:r>
            <a:endParaRPr lang="en-US" sz="1500" dirty="0"/>
          </a:p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Resources, Risk</a:t>
            </a:r>
            <a:endParaRPr lang="en-US" sz="1500" dirty="0"/>
          </a:p>
          <a:p>
            <a:pPr marL="342900" indent="-342900" algn="l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Describes guide structure, not exam weighting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4739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© </a:t>
            </a:r>
            <a:r>
              <a:rPr lang="en-US" sz="900" dirty="0" err="1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pmpeco.com</a:t>
            </a:r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2026</a:t>
            </a:r>
            <a:endParaRPr lang="en-US" sz="9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8105D822-41F9-F39A-44E7-512A57089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96" y="445191"/>
            <a:ext cx="609233" cy="609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54864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YOUR RECALL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005840" y="117500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102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 Traps to Avoid</a:t>
            </a:r>
            <a:endParaRPr lang="en-US" sz="3200" dirty="0">
              <a:solidFill>
                <a:srgbClr val="310259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5" name="Text 3"/>
          <p:cNvSpPr/>
          <p:nvPr/>
        </p:nvSpPr>
        <p:spPr>
          <a:xfrm>
            <a:off x="1005840" y="2185416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2057400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A406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PMBOK 8 has six principles and seven Performance Domains — know both counts exactly.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099816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8" name="Text 6"/>
          <p:cNvSpPr/>
          <p:nvPr/>
        </p:nvSpPr>
        <p:spPr>
          <a:xfrm>
            <a:off x="1005840" y="322783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309981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A406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Sustainability is a named principle across all project areas, not a bolt-on topic.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142232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1" name="Text 9"/>
          <p:cNvSpPr/>
          <p:nvPr/>
        </p:nvSpPr>
        <p:spPr>
          <a:xfrm>
            <a:off x="1005840" y="427024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4142232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A406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 People, Process, Business Environment are exam-content domains, distinct from PMBOK domains.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5184648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EAE8F3"/>
          </a:solidFill>
          <a:ln w="12700">
            <a:solidFill>
              <a:srgbClr val="D7D6F5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4" name="Text 12"/>
          <p:cNvSpPr/>
          <p:nvPr/>
        </p:nvSpPr>
        <p:spPr>
          <a:xfrm>
            <a:off x="1005840" y="53126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0BFB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518464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A406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collection and analysis for decisions is explicit in ECO Domain II, Task 1.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© </a:t>
            </a:r>
            <a:r>
              <a:rPr lang="en-US" sz="900" dirty="0" err="1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pmpeco.com</a:t>
            </a:r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2026</a:t>
            </a:r>
            <a:endParaRPr lang="en-US" sz="90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4A5FDE5C-982D-4458-0E37-44F67C906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96" y="445191"/>
            <a:ext cx="609233" cy="609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0"/>
                            </p:stCondLst>
                            <p:childTnLst>
                              <p:par>
                                <p:cTn id="4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0"/>
                            </p:stCondLst>
                            <p:childTnLst>
                              <p:par>
                                <p:cTn id="5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4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3291840" cy="3108960"/>
          </a:xfrm>
          <a:prstGeom prst="roundRect">
            <a:avLst>
              <a:gd name="adj" fmla="val 14706"/>
            </a:avLst>
          </a:prstGeom>
          <a:solidFill>
            <a:srgbClr val="5955EB">
              <a:alpha val="36000"/>
            </a:srgbClr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Shape 1"/>
          <p:cNvSpPr/>
          <p:nvPr/>
        </p:nvSpPr>
        <p:spPr>
          <a:xfrm>
            <a:off x="9692640" y="0"/>
            <a:ext cx="2496312" cy="2377440"/>
          </a:xfrm>
          <a:prstGeom prst="roundRect">
            <a:avLst>
              <a:gd name="adj" fmla="val 15385"/>
            </a:avLst>
          </a:prstGeom>
          <a:solidFill>
            <a:srgbClr val="00BFB7">
              <a:alpha val="34000"/>
            </a:srgbClr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4" name="Text 2"/>
          <p:cNvSpPr/>
          <p:nvPr/>
        </p:nvSpPr>
        <p:spPr>
          <a:xfrm>
            <a:off x="845820" y="71780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5955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PMPECO NEW PMP PATH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Sustainability and Data-Informed Delivery Are One Discipline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9692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 the six PMBOK 8 principles, seven Performance Domains, and the ECO 2026 domain boundary — then value-based, data-informed, sustainable delivery becomes second nature.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7223760" cy="685800"/>
          </a:xfrm>
          <a:prstGeom prst="roundRect">
            <a:avLst>
              <a:gd name="adj" fmla="val 13333"/>
            </a:avLst>
          </a:prstGeom>
          <a:solidFill>
            <a:srgbClr val="00BFB7"/>
          </a:solidFill>
          <a:ln/>
        </p:spPr>
        <p:txBody>
          <a:bodyPr/>
          <a:lstStyle/>
          <a:p>
            <a:endParaRPr lang="en-OM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PMBOK 8 and ECO 2026 side by side before exam day.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© </a:t>
            </a:r>
            <a:r>
              <a:rPr lang="en-US" sz="900" dirty="0" err="1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pmpeco.com</a:t>
            </a:r>
            <a:r>
              <a:rPr lang="en-US" sz="900" dirty="0">
                <a:solidFill>
                  <a:srgbClr val="D1CF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2026</a:t>
            </a:r>
            <a:endParaRPr lang="en-US" sz="900" dirty="0"/>
          </a:p>
        </p:txBody>
      </p:sp>
      <p:pic>
        <p:nvPicPr>
          <p:cNvPr id="13" name="Image 0">
            <a:extLst>
              <a:ext uri="{FF2B5EF4-FFF2-40B4-BE49-F238E27FC236}">
                <a16:creationId xmlns:a16="http://schemas.microsoft.com/office/drawing/2014/main" id="{E5B60ECB-FF04-C748-F7E6-C9BA18E50D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37860" y="5620234"/>
            <a:ext cx="1529509" cy="1131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1167</Words>
  <Application>Microsoft Macintosh PowerPoint</Application>
  <PresentationFormat>Widescreen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Libre Baskerville</vt:lpstr>
      <vt:lpstr>Open Sans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PMP Expert Tutor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Delivery &amp; Sustainability</dc:title>
  <dc:subject>PptxGenJS Presentation</dc:subject>
  <dc:creator>PMP Expert Tutor — Deck Builder</dc:creator>
  <cp:lastModifiedBy>Lahoussaine Al Hassnaoui</cp:lastModifiedBy>
  <cp:revision>6</cp:revision>
  <dcterms:created xsi:type="dcterms:W3CDTF">2026-08-17T19:51:47Z</dcterms:created>
  <dcterms:modified xsi:type="dcterms:W3CDTF">2026-08-18T10:23:35Z</dcterms:modified>
</cp:coreProperties>
</file>